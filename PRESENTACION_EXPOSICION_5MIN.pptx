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6202E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16202E"/>
                </a:solidFill>
                <a:latin typeface="Calibri"/>
              </a:rPr>
              <a:t>140 registros en cuarentena, por causa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Registros</c:v>
                </c:pt>
              </c:strCache>
            </c:strRef>
          </c:tx>
          <c:spPr>
            <a:solidFill>
              <a:srgbClr val="A86B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Llave huérfana</c:v>
                  </c:pt>
                  <c:pt idx="1">
                    <c:v>Correo inválido</c:v>
                  </c:pt>
                  <c:pt idx="2">
                    <c:v>Total ≠ cantidad × precio</c:v>
                  </c:pt>
                  <c:pt idx="3">
                    <c:v>Correo con @@ o ..</c:v>
                  </c:pt>
                  <c:pt idx="4">
                    <c:v>Bot con total ×80</c:v>
                  </c:pt>
                  <c:pt idx="5">
                    <c:v>Duplicado de negocio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57</c:v>
                </c:pt>
                <c:pt idx="1">
                  <c:v>37</c:v>
                </c:pt>
                <c:pt idx="2">
                  <c:v>25</c:v>
                </c:pt>
                <c:pt idx="3">
                  <c:v>11</c:v>
                </c:pt>
                <c:pt idx="4">
                  <c:v>8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0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1 · TIEMPO: 10 s
"Buenas tardes. Somos el Grupo 1 y presentamos un pipeline ETL robusto con zona de cuarentena: toma datos crudos e inconsistentes de varias fuentes y entrega una base de datos confiable, sin que un registro corrupto detenga el lote."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1 · TIEMPO: 30 s
"Recibimos tres fuentes distintas: el catálogo de productos, las ventas de la tienda física en CSV y las ventas en línea en JSON. Son 1,220 registros con todos estos problemas: ventas duplicadas, cuatro formatos de fecha, totales vacíos, precios en dólares mezclados con pesos, correos mal escritos, bots que inflan el total 80 veces y productos que no existen en el catálogo.
El criterio del proyecto: un pipeline no se evalúa por el caso ideal, sino por lo que hace con el dato corrupto. Nuestro resultado: cero excepciones no controladas."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1 · TIEMPO: 30 s
"Son siete fases en cuatro scripts. Cada uno lee lo que dejó el anterior y escribe su bitácora, así que todo es auditable. De los 1,220 registros crudos quedan 1,189 después de limpiar: salen solo 20 duplicados exactos y 11 cantidades imposibles. De esos, 1,049 pasan a transacciones limpias y 140 se van a cuarentena con su motivo. 1,049 más 140 da 1,189: ninguna fila se pierde."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1 · TIEMPO: 35 s
"Primero medimos sin transformar: completitud, unicidad y tipos, incluidos los vacíos ocultos, como un correo vacío que pandas no reconoce como nulo.
Luego clasificamos la ausencia: MCAR o MAR con chi-cuadrada. Regla clave: recalcular antes de imputar. Si falta el total pero tenemos cantidad y precio, se calcula exacto. Lo que sí se imputa usa la mediana, porque los montos están muy sesgados: la media es 16,991 y la mediana 3,622.
En outliers no borramos ventas: recortamos al límite del IQR por 1.5. El máximo de 2.1 millones queda en 16,510. Solo eliminamos lo imposible: cantidades en cero o negativas."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2 · TIEMPO: 45 s
"En integración unificamos todo. Las fechas venían en cuatro formatos y en epoch; quedan en año-mes-día y en hora de México: si tomáramos el epoch en UTC, 49 ventas caerían en otro día.
Los 193 pedidos en dólares se convierten a 19.50 antes del IQR, para que los cuartiles no mezclen monedas.
Cruzamos contra el catálogo y encontramos 27 productos inexistentes en tienda y 33 en online: no se borran, se marcan.
En la Fase 5 aplicamos Min-Max después del capping, porque con el máximo de 2.1 millones el 99 % de las ventas quedaba bajo 0.01. Y segmentamos por terciles, no por montos fijos: quedan tres grupos de tamaño comparable, 403, 391 y 395.
Todos estos umbrales están en config.yaml, versionado en git."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3 · TIEMPO: 35 s
"La validación usa un esquema Pydantic con validadores de campo y un validador de modelo para las reglas cruzadas. Estas reglas no las inventamos: salen de un análisis forense de datos que parecen correctos pero son falsos.
El caso estrella es R3a: el capping ya había recortado el total de los bots, así que 8 de los 12 bots se colaban a la tabla limpia. Lo detectamos y ahora entran cero.
Cada fila se valida aislada dentro de un try/except: una fila mala nunca tumba el lote. Resultado: 140 registros en cuarentena, cada uno con su motivo exacto. El principal, 57 llaves huérfanas."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3 · TIEMPO: 30 s
"La carga a SQLite es todo o nada: BEGIN, commit si sale bien, rollback ante cualquier error. Las reglas también están declaradas en la base con CHECK, PRIMARY KEY y NOT NULL. Lo demostramos insertando una cantidad de −99: salta el CHECK, se hace rollback y la tabla queda intacta.
Para probar la robustez inyectamos 25 casos corruptos: 0 excepciones. Además, 200 verificaciones con datos de verdad conocida y 21 archivos rotos, como binarios, JSON corrupto o celdas de 2 MB: nada tumba el pipeline."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que hace la demo (sugerido: Salvador) · TIEMPO: 35 s
"Fuimos más allá de lo pedido en cuatro puntos. Uno: un motor universal y un panel web que funcionan sin internet; el profesor puede subir cualquier archivo y el sistema aplica las siete fases sin conocer sus columnas. Dos: archivos de más de 5 GB se procesan por bloques en tres pasadas, con los mismos parámetros globales; lo probamos con 5.29 GB y 18 millones de filas, y la cuarentena coincidió exactamente con los errores plantados. Tres: todos los umbrales están en config.yaml, versionado en git. Cuatro: una pestaña Antes / después que muestra, columna por columna, qué le hizo el pipeline al dato."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QUIÉN: Integrante que hace la demo (sugerido: Salvador) · TIEMPO: 25 s + demo de 40 s
"El resultado: 4 millones 74 mil pesos facturables sobre 1,049 ventas válidas, y el 77.7 % viene de la tienda física. Cerramos con tres ideas: el dato malo no se borra, se recorta, se marca o se aparta con su causa; las reglas salen de los datos; y todo es auditable.
Se los mostramos funcionando."
DEMO (ya abierto con INICIAR_PANEL.bat):
1. Resumen: "Estas cifras se leen en vivo de la base: 1,049 y 140."
2. Antes / después, abrir monto_mxn: "El máximo bajó de 2.1 millones a 16,510 y desaparecieron los valores en cero o negativos." Abrir fecha: "Cinco formatos se volvieron uno."
3. Prueba tu dataset: "Profe, si gusta, suba su propio archivo." Si no trae, usar demo\profe_sucio.xlsx.
Cierre: "¿Preguntas?"
PLAN B: si el panel no abre, doble clic en dashboard_offline.html.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con zona de cuarentena · ATD-2602 · Grupo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TECNOLÓGICO NACIONAL DE MÉXICO · CAMPUS COLIMA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robusto con zona de cuarentena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e inconsistentes a una base de datos confiable, sin que un registro corrupto detenga el lote.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Salvador Alvarez  ·  Gael Alexandro Cortez Sarmienta  ·  Sebastian Grageda Sandoval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Datos (ATD-2602) · Unidad 2 · Grupo 1 Retail y e-commerce omnicanal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Armando Román Gallardo Heredia · 29 de octubre de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69680" y="2560320"/>
            <a:ext cx="777240" cy="73152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12480" y="2331720"/>
            <a:ext cx="457200" cy="45720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3291840"/>
            <a:ext cx="777240" cy="914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412480" y="3063240"/>
            <a:ext cx="457200" cy="45720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869680" y="3291840"/>
            <a:ext cx="777240" cy="73152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3794760"/>
            <a:ext cx="457200" cy="45720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606040"/>
            <a:ext cx="822960" cy="137160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 w="19050">
            <a:solidFill>
              <a:srgbClr val="4F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0469880" y="2743200"/>
            <a:ext cx="777240" cy="274320"/>
          </a:xfrm>
          <a:prstGeom prst="line">
            <a:avLst/>
          </a:prstGeom>
          <a:noFill/>
          <a:ln w="19050">
            <a:solidFill>
              <a:srgbClr val="4FD1C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469880" y="3566160"/>
            <a:ext cx="777240" cy="777240"/>
          </a:xfrm>
          <a:prstGeom prst="line">
            <a:avLst/>
          </a:prstGeom>
          <a:noFill/>
          <a:ln w="19050">
            <a:solidFill>
              <a:srgbClr val="F2B54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1247120" y="2514600"/>
            <a:ext cx="457200" cy="457200"/>
          </a:xfrm>
          <a:prstGeom prst="ellipse">
            <a:avLst/>
          </a:prstGeom>
          <a:solidFill>
            <a:srgbClr val="4FD1C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47120" y="4114800"/>
            <a:ext cx="457200" cy="457200"/>
          </a:xfrm>
          <a:prstGeom prst="ellipse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0704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0" y="4617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reales llegan sucios y de varias fuentes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476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catálogo CSV, ventas tienda CSV y ventas online JSON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9476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crudos: 620 tienda física + 600 en línea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19476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fases: diagnosticar, limpiar, integrar, validar y cargar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5256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81160" y="194767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2788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no controladas en todas las pruebas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06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que trae el Grupo 1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75488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del POS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06624" y="4754880"/>
            <a:ext cx="3364992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06624" y="4754880"/>
            <a:ext cx="3364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DD/MM, DD-MM, ISO y epoch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8776" y="47548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08776" y="475488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vacíos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982712" y="4754880"/>
            <a:ext cx="2212848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82712" y="47548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en USD y MXN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2116836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257800"/>
            <a:ext cx="2116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malformados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02636" y="525780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02636" y="5257800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con total ×80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60620" y="5257800"/>
            <a:ext cx="2596896" cy="384048"/>
          </a:xfrm>
          <a:prstGeom prst="roundRect">
            <a:avLst>
              <a:gd name="adj" fmla="val 50000"/>
            </a:avLst>
          </a:prstGeom>
          <a:solidFill>
            <a:srgbClr val="E9E5DA"/>
          </a:solidFill>
          <a:ln w="12700">
            <a:solidFill>
              <a:srgbClr val="E9E5D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60620" y="5257800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que no existen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fases encadenadas y ninguna fila se pierde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crudas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FC0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datasets/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42032" y="2377440"/>
            <a:ext cx="256032" cy="228600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783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9923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0–2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Esquema, diagnóstico y faltantes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fase1_fase2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2377440"/>
            <a:ext cx="256032" cy="228600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783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8523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3–4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 integración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fase3_fase4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14032" y="2377440"/>
            <a:ext cx="256032" cy="228600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1783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7123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5–6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y validar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fase5_fase6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0032" y="2377440"/>
            <a:ext cx="256032" cy="228600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17830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857232" y="18745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2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 SQLite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fase7_carga_bd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física + 600 online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49040" y="3666744"/>
            <a:ext cx="7863840" cy="438912"/>
          </a:xfrm>
          <a:prstGeom prst="roundRect">
            <a:avLst>
              <a:gd name="adj" fmla="val 125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86200" y="36667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1,220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3367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fases 1 a 4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 duplicados, −11 cantidades ≤ 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749040" y="4288536"/>
            <a:ext cx="7664021" cy="438912"/>
          </a:xfrm>
          <a:prstGeom prst="roundRect">
            <a:avLst>
              <a:gd name="adj" fmla="val 12500"/>
            </a:avLst>
          </a:prstGeom>
          <a:solidFill>
            <a:srgbClr val="2B4466"/>
          </a:solidFill>
          <a:ln w="12700">
            <a:solidFill>
              <a:srgbClr val="2B44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86200" y="42885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55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transacciones_limpias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88.23 % del lote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49040" y="4910328"/>
            <a:ext cx="6761613" cy="438912"/>
          </a:xfrm>
          <a:prstGeom prst="roundRect">
            <a:avLst>
              <a:gd name="adj" fmla="val 12500"/>
            </a:avLst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86200" y="4910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1,049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4772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cuarentena_errores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11.77 %, cada una con su motivo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749040" y="5532120"/>
            <a:ext cx="902408" cy="438912"/>
          </a:xfrm>
          <a:prstGeom prst="roundRect">
            <a:avLst>
              <a:gd name="adj" fmla="val 12500"/>
            </a:avLst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86200" y="55321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5760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1,049 + 140 = 1,189: el conteo cuadra con la entrada.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1, 2 Y 3 · CALIDAD, NULOS Y OUTLIERS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sin inventar datos ni borrar ventas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Diagnóstico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antes de tocar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Completitud, unicidad y tipos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Vacíos ocultos ("N/A", "") que isna() no ve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duplicados exactos en tienda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4747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Faltantes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y luego imputar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 o MAR con chi² y Bonferroni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dato existe, se recalcula: monto = cantidad × precio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Mediana, no media; etiqueta ANONIMO en texto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7472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1965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Outliers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Recortar, no borrar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× 1.5 con capping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2,109,055 → 16,510.02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eliminan imposibles: 11 cantidades ≤ 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F1B2D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mediana?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tienda la media del monto es 16,991 y la mediana 3,622: unos pocos extremos arrastran la media y la contagiarían a cada hueco que rellena.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4 Y 5 · INTEGRACIÓN Y TRANSFORMACIÓN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fecha, una moneda, un catálogo y tres segmentos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a AAAA-MM-DD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explícitos por fuente, en hora de México. Si el epoch se tomara en UTC, 49 de 208 ventas caerían en otro día.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60520" y="178308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38912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→ MXN a 19.50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46888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pedidos convertidos ANTES del IQR, para que los cuartiles no mezclen dólares con pesos.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Huérfanos contra el catálogo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7091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 indicator: 27 en tienda y 33 en online. No se borran: se marcan y la Fase 6 decide.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60520" y="4023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891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después del capping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47091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máximo sin recortar, el 99 % de las ventas quedaba bajo 0.01. Ahora la escala se reparte.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9560" y="1783080"/>
            <a:ext cx="3703320" cy="42519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Terciles con qcut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377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tamaño comparable; un corte fijo en pesos dejaría grupos vacíos.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3200400"/>
          <a:ext cx="33375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02920"/>
                <a:gridCol w="1783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(MXN)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332.67 – 2,016.30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2,048.98 – 4,138.14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4,183.67 – 16,510.02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D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8138160" y="4983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Umbrales (19.50, IQR 1.5 y terciles) en config.yaml, versionado en git.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 · VALIDACIÓN CON PYDANTIC Y CUARENTENA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parecen correctos, pero son falsos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cruzadas (@model_validator)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23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Llave de producto no huérfana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852928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8529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529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distinto de 500.00 (relleno del POS)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282696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282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2826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bandera de bot (total ×80)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712464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7124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7124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= cantidad × precio (±0.01)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142232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1422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41422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 o devuelto ⇒ facturable = 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" y="4572000"/>
            <a:ext cx="640080" cy="329184"/>
          </a:xfrm>
          <a:prstGeom prst="roundRect">
            <a:avLst>
              <a:gd name="adj" fmla="val 22222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572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5720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online exige correo válido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07492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R3a nació del análisis forense: </a:t>
            </a:r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ella, 8 de 12 bots llegaban a la tabla limpia porque el capping ya había recortado su total.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97880" y="1783080"/>
            <a:ext cx="57150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26" name="Chart 0" descr=""/>
          <p:cNvGraphicFramePr/>
          <p:nvPr/>
        </p:nvGraphicFramePr>
        <p:xfrm>
          <a:off x="6035040" y="1874520"/>
          <a:ext cx="5440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 Y ROBUSTEZ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nada en la base, y nada tumba el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78608" y="1965960"/>
            <a:ext cx="219456" cy="201168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16352" y="17830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783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965960"/>
            <a:ext cx="219456" cy="201168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17830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783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executemany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14032" y="1965960"/>
            <a:ext cx="219456" cy="201168"/>
          </a:xfrm>
          <a:prstGeom prst="rightArrow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1776" y="17830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1776" y="1783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19488" y="178308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19488" y="178308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declarada en SQLite: PRIMARY KEY, CHECK y NOT NULL. Prueba real: insertar cantidad = −99 dispara el CHECK, se aplica rollback y la tabla sigue con 1,049 filas.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25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en las pruebas de estrés de Pydantic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83280" y="34290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61188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verificaciones con verdad conocida, 0 fallos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34290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4652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rotos o raros (tortura), 0 excepciones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052560" y="3429000"/>
            <a:ext cx="26517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81160" y="359359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en 40 s en memoria; más de 5 GB por bloques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LO PEDIDO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universal, umbrales versionados y prueba visual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universal + panel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profesor sube cualquier CSV, Excel, JSON o ZIP sin decir cómo se llaman sus columnas: el motor infiere tipos y aplica las 7 fases.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internet ni librerías externas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039112"/>
            <a:ext cx="457200" cy="457200"/>
          </a:xfrm>
          <a:prstGeom prst="ellipse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0116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más de 5 GB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06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procesan por bloques en tres pasadas con parámetros globales: el resultado es idéntico al de memoria, byte a byte.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337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Probado: 5.29 GB, 18 M filas, cuarentena exacta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0E7C72"/>
          </a:solidFill>
          <a:ln w="12700">
            <a:solidFill>
              <a:srgbClr val="0E7C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config.yaml versionado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cambio, IQR, terciles y reglas en un archivo en git. Un error de dedo detiene la fase sin escribir nada.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Mismas cifras: 1,049 / 140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DD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4233672"/>
            <a:ext cx="457200" cy="457200"/>
          </a:xfrm>
          <a:prstGeom prst="ellipse">
            <a:avLst/>
          </a:prstGeom>
          <a:solidFill>
            <a:srgbClr val="A86B00"/>
          </a:solidFill>
          <a:ln w="12700">
            <a:solidFill>
              <a:srgbClr val="A86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Antes / después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8006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columna en crudo contra la tabla limpia: máximo 2.1 M → 16.5 k, 5 formatos de fecha → 1, 48 correos malos → 0.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5532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de cada regla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Y 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$4,074,888.52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57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facturables sobre 1,049 ventas válidas · 77.7 % viene de la tienda física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26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malo no se borra: se recorta, se marca o se aparta con su causa.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7033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 validación salen del análisis de los datos, no de suposiciones.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805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es auditable: 1,049 + 140 = 1,189, y la base lo demuestra.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3291840" cy="2514600"/>
          </a:xfrm>
          <a:prstGeom prst="roundRect">
            <a:avLst>
              <a:gd name="adj" fmla="val 5455"/>
            </a:avLst>
          </a:prstGeom>
          <a:solidFill>
            <a:srgbClr val="1B2A41"/>
          </a:solidFill>
          <a:ln w="12700">
            <a:solidFill>
              <a:srgbClr val="2E43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128016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INICIAR_PANEL.bat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Resumen: 1,049 y 140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Antes / después: monto_mxn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DDE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Prueba tu dataset: el archivo del profesor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349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ETL robusto con zona de cuarentena - 5 minutos</dc:title>
  <dc:subject>PptxGenJS Presentation</dc:subject>
  <dc:creator>Equipo Grupo 1 - Ingenieria de Datos ATD-2602</dc:creator>
  <cp:lastModifiedBy>Equipo Grupo 1 - Ingenieria de Datos ATD-2602</cp:lastModifiedBy>
  <cp:revision>1</cp:revision>
  <dcterms:created xsi:type="dcterms:W3CDTF">2026-10-29T18:45:19Z</dcterms:created>
  <dcterms:modified xsi:type="dcterms:W3CDTF">2026-10-29T18:45:19Z</dcterms:modified>
</cp:coreProperties>
</file>